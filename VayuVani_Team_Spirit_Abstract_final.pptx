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69" r:id="rId33"/>
    <p:sldId id="265" r:id="rId12"/>
  </p:sldIdLst>
  <p:sldSz cx="18288000" cy="10287000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ora" pitchFamily="2" charset="0"/>
      <p:regular r:id="rId18"/>
      <p:bold r:id="rId19"/>
      <p:boldItalic r:id="rId20"/>
    </p:embeddedFont>
    <p:embeddedFont>
      <p:font typeface="Quattrocento" panose="02020502030000000404" pitchFamily="18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DQCx4K1thgFdhC0GKK17guP5N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5" name="Google Shape;115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9" name="Google Shape;119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3" name="Google Shape;133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7" name="Google Shape;137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5" name="Google Shape;155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9" name="Google Shape;169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3" name="Google Shape;173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5" name="Google Shape;205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9" name="Google Shape;209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3" name="Google Shape;223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7" name="Google Shape;227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41" name="Google Shape;241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45" name="Google Shape;245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ausam.imd.gov.in/" TargetMode="Externa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hyperlink" Target="https://incois.gov.in/" TargetMode="External"/><Relationship Id="rId7" Type="http://schemas.openxmlformats.org/officeDocument/2006/relationships/hyperlink" Target="https://open-meteo.com/en/docs" TargetMode="External"/><Relationship Id="rId8" Type="http://schemas.openxmlformats.org/officeDocument/2006/relationships/hyperlink" Target="https://bhashini.gov.in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hyperlink" Target="https://cbse-learning-platform-afuefnwjgwvuvslvep6v6c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3372422" y="2635453"/>
            <a:ext cx="12476100" cy="794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Team Leader Name:</a:t>
            </a:r>
            <a:r>
              <a:rPr lang="en-US" sz="4300" dirty="0">
                <a:latin typeface="Quattrocento"/>
                <a:ea typeface="Quattrocento"/>
                <a:cs typeface="Quattrocento"/>
                <a:sym typeface="Quattrocento"/>
              </a:rPr>
              <a:t> Bharani Kumar</a:t>
            </a:r>
            <a:endParaRPr sz="4300" dirty="0"/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Team Leader Mobile Number: 9705639722</a:t>
            </a:r>
            <a:endParaRPr sz="4300" dirty="0"/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Team Leader Email: bharanipasupuleti123@gmail.com</a:t>
            </a:r>
            <a:endParaRPr sz="4300" dirty="0"/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No. of Team Members: 3</a:t>
            </a:r>
            <a:endParaRPr lang="en-US" sz="4300" dirty="0">
              <a:latin typeface="Quattrocento"/>
              <a:ea typeface="Quattrocento"/>
              <a:cs typeface="Quattrocento"/>
              <a:sym typeface="Quattrocento"/>
            </a:endParaRPr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dirty="0">
                <a:latin typeface="Quattrocento"/>
                <a:sym typeface="Quattrocento"/>
              </a:rPr>
              <a:t>Mentor Name: S Srinivas Reddy</a:t>
            </a:r>
            <a:endParaRPr sz="4300" dirty="0"/>
          </a:p>
          <a:p>
            <a:pPr lvl="0">
              <a:lnSpc>
                <a:spcPct val="119979"/>
              </a:lnSpc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Team Members Details : Prudvi </a:t>
            </a:r>
            <a:r>
              <a:rPr lang="en-US" sz="4300" dirty="0">
                <a:latin typeface="Quattrocento"/>
                <a:ea typeface="Quattrocento"/>
                <a:cs typeface="Quattrocento"/>
                <a:sym typeface="Quattrocento"/>
              </a:rPr>
              <a:t>Sai -  8309114910 , Prashanth - 9951060164</a:t>
            </a:r>
            <a:endParaRPr lang="en-US" sz="4300" b="0" i="0" u="none" strike="noStrike" cap="none" dirty="0">
              <a:solidFill>
                <a:srgbClr val="000000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College Name: Vardhaman College of Engineering</a:t>
            </a:r>
            <a:endParaRPr sz="4300" dirty="0"/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00" dirty="0"/>
          </a:p>
        </p:txBody>
      </p:sp>
      <p:cxnSp>
        <p:nvCxnSpPr>
          <p:cNvPr id="93" name="Google Shape;93;p1"/>
          <p:cNvCxnSpPr/>
          <p:nvPr/>
        </p:nvCxnSpPr>
        <p:spPr>
          <a:xfrm rot="22860">
            <a:off x="-2953" y="1685734"/>
            <a:ext cx="2863710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4" name="Google Shape;94;p1"/>
          <p:cNvGrpSpPr/>
          <p:nvPr/>
        </p:nvGrpSpPr>
        <p:grpSpPr>
          <a:xfrm>
            <a:off x="2622004" y="0"/>
            <a:ext cx="9815999" cy="2319604"/>
            <a:chOff x="0" y="0"/>
            <a:chExt cx="13088000" cy="309280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3088000" cy="3092800"/>
            </a:xfrm>
            <a:custGeom>
              <a:avLst/>
              <a:gdLst/>
              <a:ahLst/>
              <a:cxnLst/>
              <a:rect l="l" t="t" r="r" b="b"/>
              <a:pathLst>
                <a:path w="13088000" h="3092800" extrusionOk="0">
                  <a:moveTo>
                    <a:pt x="0" y="0"/>
                  </a:moveTo>
                  <a:lnTo>
                    <a:pt x="13088000" y="0"/>
                  </a:lnTo>
                  <a:lnTo>
                    <a:pt x="13088000" y="3092800"/>
                  </a:lnTo>
                  <a:lnTo>
                    <a:pt x="0" y="3092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2454" b="-32456"/>
              </a:stretch>
            </a:blip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0" y="9525"/>
              <a:ext cx="13087998" cy="3083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Team </a:t>
              </a:r>
              <a:r>
                <a:rPr lang="en-US" sz="9999" b="1" dirty="0">
                  <a:latin typeface="Lora"/>
                  <a:ea typeface="Lora"/>
                  <a:cs typeface="Lora"/>
                  <a:sym typeface="Lora"/>
                </a:rPr>
                <a:t>Spirit</a:t>
              </a:r>
              <a:endParaRPr dirty="0"/>
            </a:p>
          </p:txBody>
        </p:sp>
      </p:grpSp>
      <p:cxnSp>
        <p:nvCxnSpPr>
          <p:cNvPr id="97" name="Google Shape;97;p1"/>
          <p:cNvCxnSpPr/>
          <p:nvPr/>
        </p:nvCxnSpPr>
        <p:spPr>
          <a:xfrm rot="10786200">
            <a:off x="11762851" y="1689240"/>
            <a:ext cx="6527902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1"/>
          <p:cNvSpPr txBox="1"/>
          <p:nvPr/>
        </p:nvSpPr>
        <p:spPr>
          <a:xfrm>
            <a:off x="16518830" y="953872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2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3" name="Google Shape;123;p2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5" name="Google Shape;125;p2"/>
          <p:cNvGrpSpPr/>
          <p:nvPr/>
        </p:nvGrpSpPr>
        <p:grpSpPr>
          <a:xfrm>
            <a:off x="2762498" y="1792195"/>
            <a:ext cx="9275400" cy="871204"/>
            <a:chOff x="0" y="0"/>
            <a:chExt cx="12367200" cy="1161606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2367200" cy="1161600"/>
            </a:xfrm>
            <a:custGeom>
              <a:avLst/>
              <a:gdLst/>
              <a:ahLst/>
              <a:cxnLst/>
              <a:rect l="l" t="t" r="r" b="b"/>
              <a:pathLst>
                <a:path w="12367200" h="1161600" extrusionOk="0">
                  <a:moveTo>
                    <a:pt x="0" y="0"/>
                  </a:moveTo>
                  <a:lnTo>
                    <a:pt x="12367200" y="0"/>
                  </a:lnTo>
                  <a:lnTo>
                    <a:pt x="123672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7452" b="-157452"/>
              </a:stretch>
            </a:blip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0"/>
              <a:ext cx="12367196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Domain and Problem Statement </a:t>
              </a:r>
              <a:endParaRPr/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6891355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9141B0-1894-866C-BCBE-D1611F54B9DB}"/>
              </a:ext>
            </a:extLst>
          </p:cNvPr>
          <p:cNvSpPr txBox="1"/>
          <p:nvPr/>
        </p:nvSpPr>
        <p:spPr>
          <a:xfrm>
            <a:off x="1017639" y="781665"/>
            <a:ext cx="16090490" cy="663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799"/>
              <a:buFont typeface="Arial"/>
              <a:buChar char="•"/>
            </a:pPr>
            <a:endParaRPr lang="en-IN" sz="2799" b="1" i="0" u="none" strike="noStrike" cap="none" dirty="0">
              <a:solidFill>
                <a:srgbClr val="331656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799"/>
              <a:buFont typeface="Arial"/>
              <a:buChar char="•"/>
            </a:pPr>
            <a:endParaRPr lang="en-IN" sz="2799" b="1" dirty="0">
              <a:solidFill>
                <a:srgbClr val="331656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marL="477519" marR="0" lvl="1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799"/>
            </a:pPr>
            <a:endParaRPr lang="en-IN" sz="2799" b="1" dirty="0">
              <a:solidFill>
                <a:srgbClr val="331656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331656"/>
                </a:solidFill>
                <a:latin typeface="Quattrocento"/>
                <a:ea typeface="Quattrocento"/>
                <a:cs typeface="Quattrocento"/>
                <a:sym typeface="Quattrocento"/>
              </a:rPr>
              <a:t>Climate &amp; Ocean Intelligence: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Conversational AI for Weather Forecasting, Alerts &amp; Climate Information.</a:t>
            </a:r>
            <a:endParaRPr lang="en-IN" sz="1400" dirty="0"/>
          </a:p>
          <a:p>
            <a:pPr marL="477519" marR="0" lvl="1" algn="l" rtl="0">
              <a:lnSpc>
                <a:spcPct val="120007"/>
              </a:lnSpc>
              <a:spcBef>
                <a:spcPts val="900"/>
              </a:spcBef>
              <a:spcAft>
                <a:spcPts val="0"/>
              </a:spcAft>
              <a:buClr>
                <a:srgbClr val="331656"/>
              </a:buClr>
              <a:buSzPts val="2400"/>
              <a:buNone/>
            </a:pPr>
            <a:r>
              <a:rPr lang="en-IN" sz="2400" b="1" i="0" u="none" strike="noStrike" cap="none" dirty="0">
                <a:solidFill>
                  <a:srgbClr val="331656"/>
                </a:solidFill>
                <a:latin typeface="Quattrocento"/>
                <a:ea typeface="Quattrocento"/>
                <a:cs typeface="Quattrocento"/>
                <a:sym typeface="Quattrocento"/>
              </a:rPr>
              <a:t>THE PROBLEM</a:t>
            </a:r>
            <a:endParaRPr lang="en-IN" sz="1400" dirty="0"/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331656"/>
                </a:solidFill>
                <a:latin typeface="Quattrocento"/>
                <a:ea typeface="Quattrocento"/>
                <a:cs typeface="Quattrocento"/>
                <a:sym typeface="Quattrocento"/>
              </a:rPr>
              <a:t>Scattered Information: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Weather and climate data is spread across PDFs, maps, portals and technical reports, making it difficult to access quickly.</a:t>
            </a:r>
            <a:endParaRPr lang="en-IN" sz="1400" dirty="0"/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331656"/>
                </a:solidFill>
                <a:latin typeface="Quattrocento"/>
                <a:ea typeface="Quattrocento"/>
                <a:cs typeface="Quattrocento"/>
                <a:sym typeface="Quattrocento"/>
              </a:rPr>
              <a:t>Accessibility Gap: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English-heavy and technical information creates barriers for rural and non-literate users.</a:t>
            </a:r>
            <a:endParaRPr lang="en-IN" sz="1400" dirty="0"/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331656"/>
                </a:solidFill>
                <a:latin typeface="Quattrocento"/>
                <a:ea typeface="Quattrocento"/>
                <a:cs typeface="Quattrocento"/>
                <a:sym typeface="Quattrocento"/>
              </a:rPr>
              <a:t>Delayed Action: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When warnings are difficult to understand or arrive too late, agriculture, coastal activities and disaster preparedness can be affected.</a:t>
            </a:r>
            <a:endParaRPr lang="en-IN" sz="1400" dirty="0"/>
          </a:p>
          <a:p>
            <a:pPr marL="955038" marR="0" lvl="1" indent="-477519" algn="l" rtl="0">
              <a:lnSpc>
                <a:spcPct val="120007"/>
              </a:lnSpc>
              <a:spcBef>
                <a:spcPts val="600"/>
              </a:spcBef>
              <a:spcAft>
                <a:spcPts val="0"/>
              </a:spcAft>
              <a:buClr>
                <a:srgbClr val="331656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rgbClr val="331656"/>
                </a:solidFill>
                <a:latin typeface="Quattrocento"/>
                <a:ea typeface="Quattrocento"/>
                <a:cs typeface="Quattrocento"/>
                <a:sym typeface="Quattrocento"/>
              </a:rPr>
              <a:t>Affected Sectors: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Agriculture · Marine &amp; Coastal · Disaster Management · Aviation · Urban Planning</a:t>
            </a:r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4CDBB-4997-AC9F-631A-7A7872A3E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4928" y="7000264"/>
            <a:ext cx="2400300" cy="2191042"/>
          </a:xfrm>
          <a:prstGeom prst="rect">
            <a:avLst/>
          </a:prstGeom>
        </p:spPr>
      </p:pic>
      <p:pic>
        <p:nvPicPr>
          <p:cNvPr id="4" name="Picture 3" descr="Our Impact - Climate Action | SHARE - Shareholder Association for ...">
            <a:extLst>
              <a:ext uri="{FF2B5EF4-FFF2-40B4-BE49-F238E27FC236}">
                <a16:creationId xmlns:a16="http://schemas.microsoft.com/office/drawing/2014/main" id="{65EFA119-4C8A-AF9B-6F6F-46E1E0514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4728" y="7000264"/>
            <a:ext cx="2400300" cy="2191042"/>
          </a:xfrm>
          <a:prstGeom prst="rect">
            <a:avLst/>
          </a:prstGeom>
        </p:spPr>
      </p:pic>
      <p:pic>
        <p:nvPicPr>
          <p:cNvPr id="5" name="Picture 4" descr="Sustainable Development Goal 14: Life Below Water">
            <a:extLst>
              <a:ext uri="{FF2B5EF4-FFF2-40B4-BE49-F238E27FC236}">
                <a16:creationId xmlns:a16="http://schemas.microsoft.com/office/drawing/2014/main" id="{6D9AB3B0-50C0-4A10-1458-CDB2B21018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4528" y="7000264"/>
            <a:ext cx="2400300" cy="21910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3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3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1" name="Google Shape;141;p3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" name="Google Shape;143;p3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</p:sp>
        <p:sp>
          <p:nvSpPr>
            <p:cNvPr id="145" name="Google Shape;145;p3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Idea/Solution</a:t>
              </a:r>
              <a:endParaRPr/>
            </a:p>
          </p:txBody>
        </p:sp>
      </p:grpSp>
      <p:sp>
        <p:nvSpPr>
          <p:cNvPr id="146" name="Google Shape;146;p3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691998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828267" y="2760000"/>
            <a:ext cx="14791733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50" b="1" i="0">
                <a:solidFill>
                  <a:srgbClr val="0B3C5D"/>
                </a:solidFill>
                <a:latin typeface="Cambria"/>
              </a:rPr>
              <a:t>Voice-first platform turning weather data into plain-language advisories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828267" y="3510000"/>
            <a:ext cx="2115288" cy="1900000"/>
          </a:xfrm>
          <a:prstGeom prst="roundRect">
            <a:avLst>
              <a:gd name="adj" fmla="val 14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918267" y="4267639"/>
            <a:ext cx="1935288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52" name="Chevron 151"/>
          <p:cNvSpPr/>
          <p:nvPr/>
        </p:nvSpPr>
        <p:spPr>
          <a:xfrm>
            <a:off x="3983555" y="4290000"/>
            <a:ext cx="340000" cy="2448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4363555" y="3510000"/>
            <a:ext cx="2115288" cy="1900000"/>
          </a:xfrm>
          <a:prstGeom prst="roundRect">
            <a:avLst>
              <a:gd name="adj" fmla="val 14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453555" y="4075279"/>
            <a:ext cx="1935288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Text / Voice</a:t>
            </a:r>
          </a:p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55" name="Chevron 154"/>
          <p:cNvSpPr/>
          <p:nvPr/>
        </p:nvSpPr>
        <p:spPr>
          <a:xfrm>
            <a:off x="6518844" y="4290000"/>
            <a:ext cx="340000" cy="2448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6898844" y="3510000"/>
            <a:ext cx="2115288" cy="1900000"/>
          </a:xfrm>
          <a:prstGeom prst="roundRect">
            <a:avLst>
              <a:gd name="adj" fmla="val 14000"/>
            </a:avLst>
          </a:prstGeom>
          <a:solidFill>
            <a:srgbClr val="11A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988844" y="4075279"/>
            <a:ext cx="1935288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Dual-Path</a:t>
            </a:r>
          </a:p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sp>
        <p:nvSpPr>
          <p:cNvPr id="158" name="Chevron 157"/>
          <p:cNvSpPr/>
          <p:nvPr/>
        </p:nvSpPr>
        <p:spPr>
          <a:xfrm>
            <a:off x="9054133" y="4290000"/>
            <a:ext cx="340000" cy="2448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9434133" y="3510000"/>
            <a:ext cx="2115288" cy="1900000"/>
          </a:xfrm>
          <a:prstGeom prst="roundRect">
            <a:avLst>
              <a:gd name="adj" fmla="val 14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524133" y="4075279"/>
            <a:ext cx="1935288" cy="7694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Live Data</a:t>
            </a:r>
          </a:p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+ RAG</a:t>
            </a:r>
          </a:p>
        </p:txBody>
      </p:sp>
      <p:sp>
        <p:nvSpPr>
          <p:cNvPr id="161" name="Chevron 160"/>
          <p:cNvSpPr/>
          <p:nvPr/>
        </p:nvSpPr>
        <p:spPr>
          <a:xfrm>
            <a:off x="11589422" y="4290000"/>
            <a:ext cx="340000" cy="2448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1969422" y="3510000"/>
            <a:ext cx="2115288" cy="1900000"/>
          </a:xfrm>
          <a:prstGeom prst="roundRect">
            <a:avLst>
              <a:gd name="adj" fmla="val 14000"/>
            </a:avLst>
          </a:prstGeom>
          <a:solidFill>
            <a:srgbClr val="11A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2059422" y="3882919"/>
            <a:ext cx="1935288" cy="11541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Domain Action</a:t>
            </a:r>
          </a:p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164" name="Chevron 163"/>
          <p:cNvSpPr/>
          <p:nvPr/>
        </p:nvSpPr>
        <p:spPr>
          <a:xfrm>
            <a:off x="14124711" y="4290000"/>
            <a:ext cx="340000" cy="2448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14504711" y="3510000"/>
            <a:ext cx="2115288" cy="1900000"/>
          </a:xfrm>
          <a:prstGeom prst="roundRect">
            <a:avLst>
              <a:gd name="adj" fmla="val 14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4594711" y="3882919"/>
            <a:ext cx="1935288" cy="11541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Voice Advisory</a:t>
            </a:r>
          </a:p>
          <a:p>
            <a:pPr algn="ctr"/>
            <a:r>
              <a:rPr sz="2500" b="1" i="0" dirty="0">
                <a:solidFill>
                  <a:srgbClr val="FFFFFF"/>
                </a:solidFill>
                <a:latin typeface="Calibri"/>
              </a:rPr>
              <a:t>/ Alert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828267" y="5910000"/>
            <a:ext cx="14791733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B3C5D"/>
                </a:solidFill>
                <a:latin typeface="Cambria"/>
              </a:rPr>
              <a:t>Core capabilities powering every step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828267" y="6460000"/>
            <a:ext cx="2340288" cy="950000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9525">
            <a:solidFill>
              <a:srgbClr val="11A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1878267" y="6788806"/>
            <a:ext cx="2240288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libri"/>
              </a:rPr>
              <a:t>Voice-First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318555" y="6460000"/>
            <a:ext cx="2340288" cy="950000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9525">
            <a:solidFill>
              <a:srgbClr val="11A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368555" y="6642612"/>
            <a:ext cx="2240288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libri"/>
              </a:rPr>
              <a:t>Multilingual (BHASHINI)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808844" y="6460000"/>
            <a:ext cx="2340288" cy="950000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9525">
            <a:solidFill>
              <a:srgbClr val="11A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858844" y="6788806"/>
            <a:ext cx="2240288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libri"/>
              </a:rPr>
              <a:t>Grounded RAG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299133" y="6460000"/>
            <a:ext cx="2340288" cy="950000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9525">
            <a:solidFill>
              <a:srgbClr val="11A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9349133" y="6788806"/>
            <a:ext cx="2240288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libri"/>
              </a:rPr>
              <a:t>Persona Actions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1789422" y="6460000"/>
            <a:ext cx="2340288" cy="950000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9525">
            <a:solidFill>
              <a:srgbClr val="11A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11839422" y="6788806"/>
            <a:ext cx="2240288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libri"/>
              </a:rPr>
              <a:t>Live Weather APIs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4279711" y="6460000"/>
            <a:ext cx="2340288" cy="950000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9525">
            <a:solidFill>
              <a:srgbClr val="11A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14329711" y="6642612"/>
            <a:ext cx="2240288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libri"/>
              </a:rPr>
              <a:t>Low-Connectivity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4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4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9" name="Google Shape;159;p4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1" name="Google Shape;161;p4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</p:sp>
        <p:sp>
          <p:nvSpPr>
            <p:cNvPr id="163" name="Google Shape;163;p4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Existing Vs Proposed System</a:t>
              </a:r>
              <a:endParaRPr/>
            </a:p>
          </p:txBody>
        </p:sp>
      </p:grpSp>
      <p:sp>
        <p:nvSpPr>
          <p:cNvPr id="164" name="Google Shape;164;p4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6919980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1827885" y="2759659"/>
          <a:ext cx="14792248" cy="6446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943600"/>
                <a:gridCol w="64712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164592" marR="164592" marT="73152" marB="73152" anchor="ctr">
                    <a:solidFill>
                      <a:srgbClr val="0B3C5D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Existing Related Systems — IMD MAUSAM / Meghdoot</a:t>
                      </a:r>
                    </a:p>
                  </a:txBody>
                  <a:tcPr marL="164592" marR="164592" marT="73152" marB="73152" anchor="ctr">
                    <a:solidFill>
                      <a:srgbClr val="0B3C5D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VayuVani — Proposed Solution</a:t>
                      </a:r>
                    </a:p>
                  </a:txBody>
                  <a:tcPr marL="164592" marR="164592" marT="73152" marB="73152" anchor="ctr">
                    <a:solidFill>
                      <a:srgbClr val="0B3C5D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Meghdoot: crop advisories. MAUSAM: location-based forecasts &amp; warnings.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Farmer asks: “Will it rain tomorrow?” VayuVani gives one simple, combined answer.</a:t>
                      </a:r>
                    </a:p>
                  </a:txBody>
                  <a:tcPr marL="164592" marR="164592" marT="73152" marB="73152" anchor="ctr">
                    <a:solidFill>
                      <a:srgbClr val="D6EEEB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User Interaction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App screens, forecasts, maps, warnings and advisories.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Ask by text or voice; get a conversational reply.</a:t>
                      </a:r>
                    </a:p>
                  </a:txBody>
                  <a:tcPr marL="164592" marR="164592" marT="73152" marB="73152" anchor="ctr">
                    <a:solidFill>
                      <a:srgbClr val="E2F3F1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Weather forecasts, warnings and agricultural advisories.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Combines live weather data with verified advisories for the question asked.</a:t>
                      </a:r>
                    </a:p>
                  </a:txBody>
                  <a:tcPr marL="164592" marR="164592" marT="73152" marB="73152" anchor="ctr">
                    <a:solidFill>
                      <a:srgbClr val="D6EEEB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User Focus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MAUSAM: general users. Meghdoot: agriculture.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One interface for farmers, fishermen and disaster-response users.</a:t>
                      </a:r>
                    </a:p>
                  </a:txBody>
                  <a:tcPr marL="164592" marR="164592" marT="73152" marB="73152" anchor="ctr">
                    <a:solidFill>
                      <a:srgbClr val="E2F3F1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Forecasts, warnings and advisories.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Persona-specific guidance: crop advice, sea-safety info, risk alerts.</a:t>
                      </a:r>
                    </a:p>
                  </a:txBody>
                  <a:tcPr marL="164592" marR="164592" marT="73152" marB="73152" anchor="ctr">
                    <a:solidFill>
                      <a:srgbClr val="D6EEEB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Key Difference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Established government weather and advisory services.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Conversational layer that retrieves and presents relevant information for the situation.</a:t>
                      </a:r>
                    </a:p>
                  </a:txBody>
                  <a:tcPr marL="164592" marR="164592" marT="73152" marB="73152" anchor="ctr">
                    <a:solidFill>
                      <a:srgbClr val="E2F3F1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Example Output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Weather-based agricultural advisory.</a:t>
                      </a:r>
                    </a:p>
                  </a:txBody>
                  <a:tcPr marL="164592" marR="164592" marT="73152" marB="73152" anchor="ctr">
                    <a:solidFill>
                      <a:srgbClr val="FFFFFF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“Rain expected tomorrow — you may delay irrigation.”</a:t>
                      </a:r>
                    </a:p>
                  </a:txBody>
                  <a:tcPr marL="164592" marR="164592" marT="73152" marB="73152" anchor="ctr">
                    <a:solidFill>
                      <a:srgbClr val="D6EEEB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50" b="1">
                          <a:solidFill>
                            <a:srgbClr val="0B3C5D"/>
                          </a:solidFill>
                          <a:latin typeface="Calibri"/>
                        </a:rPr>
                        <a:t>VayuVani Adds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0">
                          <a:solidFill>
                            <a:srgbClr val="333F4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64592" marR="164592" marT="73152" marB="73152" anchor="ctr">
                    <a:solidFill>
                      <a:srgbClr val="F4F7F8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500" b="1">
                          <a:solidFill>
                            <a:srgbClr val="0B3C5D"/>
                          </a:solidFill>
                          <a:latin typeface="Calibri"/>
                        </a:rPr>
                        <a:t>Voice interaction + contextual Q&amp;A + persona-specific guidance.</a:t>
                      </a:r>
                    </a:p>
                  </a:txBody>
                  <a:tcPr marL="164592" marR="164592" marT="73152" marB="73152" anchor="ctr">
                    <a:solidFill>
                      <a:srgbClr val="E2F3F1"/>
                    </a:solidFill>
                    <a:lnL w="6350" cap="flat">
                      <a:solidFill>
                        <a:srgbClr val="D7E1E4"/>
                      </a:solidFill>
                    </a:lnL>
                    <a:lnR w="6350" cap="flat">
                      <a:solidFill>
                        <a:srgbClr val="D7E1E4"/>
                      </a:solidFill>
                    </a:lnR>
                    <a:lnT w="6350" cap="flat">
                      <a:solidFill>
                        <a:srgbClr val="D7E1E4"/>
                      </a:solidFill>
                    </a:lnT>
                    <a:lnB w="6350" cap="flat">
                      <a:solidFill>
                        <a:srgbClr val="D7E1E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5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5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" name="Google Shape;177;p5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9" name="Google Shape;179;p5"/>
          <p:cNvGrpSpPr/>
          <p:nvPr/>
        </p:nvGrpSpPr>
        <p:grpSpPr>
          <a:xfrm>
            <a:off x="2853928" y="1857537"/>
            <a:ext cx="7756800" cy="1454150"/>
            <a:chOff x="0" y="0"/>
            <a:chExt cx="10342400" cy="1938866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10342400" cy="1938857"/>
            </a:xfrm>
            <a:custGeom>
              <a:avLst/>
              <a:gdLst/>
              <a:ahLst/>
              <a:cxnLst/>
              <a:rect l="l" t="t" r="r" b="b"/>
              <a:pathLst>
                <a:path w="10342400" h="1938857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938857"/>
                  </a:lnTo>
                  <a:lnTo>
                    <a:pt x="0" y="193885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3980" b="-33894"/>
              </a:stretch>
            </a:blipFill>
            <a:ln>
              <a:noFill/>
            </a:ln>
          </p:spPr>
        </p:sp>
        <p:sp>
          <p:nvSpPr>
            <p:cNvPr id="181" name="Google Shape;181;p5"/>
            <p:cNvSpPr txBox="1"/>
            <p:nvPr/>
          </p:nvSpPr>
          <p:spPr>
            <a:xfrm>
              <a:off x="0" y="0"/>
              <a:ext cx="10342397" cy="193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Innovation &amp; USP</a:t>
              </a:r>
              <a:endParaRPr/>
            </a:p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999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182" name="Google Shape;182;p5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6920005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1828267" y="2760000"/>
            <a:ext cx="3472933" cy="6220000"/>
          </a:xfrm>
          <a:prstGeom prst="roundRect">
            <a:avLst>
              <a:gd name="adj" fmla="val 9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2964733" y="3220000"/>
            <a:ext cx="1200000" cy="12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2964733" y="3220000"/>
            <a:ext cx="1200000" cy="12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978267" y="4720000"/>
            <a:ext cx="31729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Grounded Query</a:t>
            </a:r>
          </a:p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Routing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008267" y="5770000"/>
            <a:ext cx="31129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0" i="0">
                <a:solidFill>
                  <a:srgbClr val="50606B"/>
                </a:solidFill>
                <a:latin typeface="Calibri"/>
              </a:rPr>
              <a:t>Structured values + verified retrieval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601200" y="2760000"/>
            <a:ext cx="3472933" cy="6220000"/>
          </a:xfrm>
          <a:prstGeom prst="roundRect">
            <a:avLst>
              <a:gd name="adj" fmla="val 9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6737666" y="3220000"/>
            <a:ext cx="1200000" cy="12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737666" y="3220000"/>
            <a:ext cx="1200000" cy="12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751200" y="4720000"/>
            <a:ext cx="31729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Multilingual</a:t>
            </a:r>
          </a:p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Voice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781200" y="5770000"/>
            <a:ext cx="31129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0" i="0">
                <a:solidFill>
                  <a:srgbClr val="50606B"/>
                </a:solidFill>
                <a:latin typeface="Calibri"/>
              </a:rPr>
              <a:t>Indian-language voice interaction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374133" y="2760000"/>
            <a:ext cx="3472933" cy="6220000"/>
          </a:xfrm>
          <a:prstGeom prst="roundRect">
            <a:avLst>
              <a:gd name="adj" fmla="val 9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10510600" y="3220000"/>
            <a:ext cx="1200000" cy="12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510600" y="3220000"/>
            <a:ext cx="1200000" cy="12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524133" y="4720000"/>
            <a:ext cx="31729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Domain Action</a:t>
            </a:r>
          </a:p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Engine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554133" y="5770000"/>
            <a:ext cx="31129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0" i="0">
                <a:solidFill>
                  <a:srgbClr val="50606B"/>
                </a:solidFill>
                <a:latin typeface="Calibri"/>
              </a:rPr>
              <a:t>Weather context → actionable advisory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3147066" y="2760000"/>
            <a:ext cx="3472933" cy="6220000"/>
          </a:xfrm>
          <a:prstGeom prst="roundRect">
            <a:avLst>
              <a:gd name="adj" fmla="val 9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14283533" y="3220000"/>
            <a:ext cx="1200000" cy="12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4283533" y="3220000"/>
            <a:ext cx="1200000" cy="12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3297066" y="4720000"/>
            <a:ext cx="31729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Low-Connectivity</a:t>
            </a:r>
          </a:p>
          <a:p>
            <a:pPr algn="ctr"/>
            <a:r>
              <a:rPr sz="2000" b="1" i="0">
                <a:solidFill>
                  <a:srgbClr val="0B3C5D"/>
                </a:solidFill>
                <a:latin typeface="Cambria"/>
              </a:rPr>
              <a:t>Access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3327066" y="5770000"/>
            <a:ext cx="31129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0" i="0">
                <a:solidFill>
                  <a:srgbClr val="50606B"/>
                </a:solidFill>
                <a:latin typeface="Calibri"/>
              </a:rPr>
              <a:t>Built for limited connectivity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7BBFE-8BEF-8FFA-3F63-2D90D5CF3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498" y="6572181"/>
            <a:ext cx="2695951" cy="1705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D615E3-613C-6647-03FD-99BF035144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216" y="6729366"/>
            <a:ext cx="2676899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B4491E-7958-45B0-8C0E-403B1D538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4571" y="6572181"/>
            <a:ext cx="2449326" cy="1857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703046-9C5D-BC06-254C-5586387E64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97504" y="6729366"/>
            <a:ext cx="2772162" cy="1609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6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6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5" name="Google Shape;195;p6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7" name="Google Shape;197;p6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</p:sp>
        <p:sp>
          <p:nvSpPr>
            <p:cNvPr id="199" name="Google Shape;199;p6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Objective &amp; Scope of Solution</a:t>
              </a:r>
              <a:endParaRPr/>
            </a:p>
          </p:txBody>
        </p:sp>
      </p:grpSp>
      <p:sp>
        <p:nvSpPr>
          <p:cNvPr id="200" name="Google Shape;200;p6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1689133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1828267" y="2760000"/>
            <a:ext cx="7225866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3C5D"/>
                </a:solidFill>
                <a:latin typeface="Cambria"/>
              </a:rPr>
              <a:t>Objectives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828267" y="3440000"/>
            <a:ext cx="7225866" cy="1800000"/>
          </a:xfrm>
          <a:prstGeom prst="roundRect">
            <a:avLst>
              <a:gd name="adj" fmla="val 1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048267" y="3990000"/>
            <a:ext cx="700000" cy="7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2048267" y="3990000"/>
            <a:ext cx="700000" cy="7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998267" y="3580000"/>
            <a:ext cx="5855866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2500" b="1" i="0" dirty="0">
              <a:solidFill>
                <a:srgbClr val="0B3C5D"/>
              </a:solidFill>
              <a:latin typeface="Cambria"/>
            </a:endParaRPr>
          </a:p>
          <a:p>
            <a:r>
              <a:rPr lang="en-US" sz="2500" b="1" i="0" dirty="0">
                <a:solidFill>
                  <a:srgbClr val="0B3C5D"/>
                </a:solidFill>
                <a:latin typeface="Cambria"/>
              </a:rPr>
              <a:t>Speed , </a:t>
            </a:r>
            <a:r>
              <a:rPr lang="en-IN" sz="25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Historical Weather &amp; Climate Trends</a:t>
            </a:r>
            <a:endParaRPr lang="en-US" sz="2500" b="1" i="0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2998267" y="4740000"/>
            <a:ext cx="585586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Timely Alert Dissemination</a:t>
            </a:r>
            <a:endParaRPr sz="2000" b="0" i="0" dirty="0">
              <a:solidFill>
                <a:srgbClr val="50606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1828267" y="5460000"/>
            <a:ext cx="7225866" cy="1800000"/>
          </a:xfrm>
          <a:prstGeom prst="roundRect">
            <a:avLst>
              <a:gd name="adj" fmla="val 1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048267" y="6010000"/>
            <a:ext cx="700000" cy="7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2048267" y="6010000"/>
            <a:ext cx="700000" cy="7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998267" y="5600000"/>
            <a:ext cx="5855866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2500" b="1" i="0" dirty="0">
              <a:solidFill>
                <a:srgbClr val="0B3C5D"/>
              </a:solidFill>
              <a:latin typeface="Cambria"/>
            </a:endParaRPr>
          </a:p>
          <a:p>
            <a:pPr algn="l"/>
            <a:r>
              <a:rPr sz="2500" b="1" i="0" dirty="0">
                <a:solidFill>
                  <a:srgbClr val="0B3C5D"/>
                </a:solidFill>
                <a:latin typeface="Cambria"/>
              </a:rPr>
              <a:t>Accessibility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998267" y="6760000"/>
            <a:ext cx="585586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000" b="0" i="0" dirty="0">
                <a:solidFill>
                  <a:srgbClr val="50606B"/>
                </a:solidFill>
                <a:latin typeface="Calibri"/>
              </a:rPr>
              <a:t>Voice, in local languages</a:t>
            </a:r>
            <a:endParaRPr sz="2000" b="0" i="0" dirty="0">
              <a:solidFill>
                <a:srgbClr val="50606B"/>
              </a:solidFill>
              <a:latin typeface="Calibri"/>
            </a:endParaRPr>
          </a:p>
        </p:txBody>
      </p:sp>
      <p:sp>
        <p:nvSpPr>
          <p:cNvPr id="214" name="Rounded Rectangle 213"/>
          <p:cNvSpPr/>
          <p:nvPr/>
        </p:nvSpPr>
        <p:spPr>
          <a:xfrm>
            <a:off x="1828267" y="7480000"/>
            <a:ext cx="7225866" cy="1800000"/>
          </a:xfrm>
          <a:prstGeom prst="roundRect">
            <a:avLst>
              <a:gd name="adj" fmla="val 1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048267" y="8030000"/>
            <a:ext cx="700000" cy="7000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048267" y="8030000"/>
            <a:ext cx="700000" cy="7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998267" y="7620000"/>
            <a:ext cx="5855866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2500" b="1" i="0" dirty="0">
              <a:solidFill>
                <a:srgbClr val="0B3C5D"/>
              </a:solidFill>
              <a:latin typeface="Cambria"/>
            </a:endParaRPr>
          </a:p>
          <a:p>
            <a:pPr algn="l"/>
            <a:r>
              <a:rPr sz="2500" b="1" i="0" dirty="0">
                <a:solidFill>
                  <a:srgbClr val="0B3C5D"/>
                </a:solidFill>
                <a:latin typeface="Cambria"/>
              </a:rPr>
              <a:t>Decision Support</a:t>
            </a:r>
            <a:r>
              <a:rPr lang="en-US" sz="2500" b="1" i="0" dirty="0">
                <a:solidFill>
                  <a:srgbClr val="0B3C5D"/>
                </a:solidFill>
                <a:latin typeface="Cambria"/>
              </a:rPr>
              <a:t> </a:t>
            </a:r>
            <a:endParaRPr sz="2500" b="1" i="0" dirty="0">
              <a:solidFill>
                <a:srgbClr val="0B3C5D"/>
              </a:solidFill>
              <a:latin typeface="Cambria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2998267" y="8780000"/>
            <a:ext cx="585586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50606B"/>
                </a:solidFill>
                <a:latin typeface="Calibri"/>
              </a:rPr>
              <a:t>Multi-sector, actionable guidance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394133" y="2760000"/>
            <a:ext cx="722586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B3C5D"/>
                </a:solidFill>
                <a:latin typeface="Cambria"/>
              </a:rPr>
              <a:t>Scop</a:t>
            </a:r>
            <a:r>
              <a:rPr lang="en-IN" sz="2200" b="1" i="0" dirty="0">
                <a:solidFill>
                  <a:srgbClr val="0B3C5D"/>
                </a:solidFill>
                <a:latin typeface="Cambria"/>
              </a:rPr>
              <a:t>e </a:t>
            </a:r>
            <a:endParaRPr sz="2200" b="1" i="0" dirty="0">
              <a:solidFill>
                <a:srgbClr val="0B3C5D"/>
              </a:solidFill>
              <a:latin typeface="Cambria"/>
            </a:endParaRPr>
          </a:p>
        </p:txBody>
      </p:sp>
      <p:sp>
        <p:nvSpPr>
          <p:cNvPr id="220" name="Rounded Rectangle 219"/>
          <p:cNvSpPr/>
          <p:nvPr/>
        </p:nvSpPr>
        <p:spPr>
          <a:xfrm>
            <a:off x="9394133" y="3440000"/>
            <a:ext cx="7225866" cy="1177500"/>
          </a:xfrm>
          <a:prstGeom prst="roundRect">
            <a:avLst>
              <a:gd name="adj" fmla="val 22000"/>
            </a:avLst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9614133" y="3818750"/>
            <a:ext cx="420000" cy="420000"/>
          </a:xfrm>
          <a:prstGeom prst="ellipse">
            <a:avLst/>
          </a:prstGeom>
          <a:solidFill>
            <a:srgbClr val="11A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9614133" y="3818750"/>
            <a:ext cx="420000" cy="4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254133" y="3440000"/>
            <a:ext cx="6165866" cy="117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Dual-Path Router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394133" y="4777500"/>
            <a:ext cx="7225866" cy="1177500"/>
          </a:xfrm>
          <a:prstGeom prst="roundRect">
            <a:avLst>
              <a:gd name="adj" fmla="val 22000"/>
            </a:avLst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9614133" y="5156250"/>
            <a:ext cx="420000" cy="420000"/>
          </a:xfrm>
          <a:prstGeom prst="ellipse">
            <a:avLst/>
          </a:prstGeom>
          <a:solidFill>
            <a:srgbClr val="11A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9614133" y="5156250"/>
            <a:ext cx="420000" cy="4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254133" y="4777500"/>
            <a:ext cx="6165866" cy="117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BHASHINI Voice Pipeline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9394133" y="6115000"/>
            <a:ext cx="7225866" cy="1177500"/>
          </a:xfrm>
          <a:prstGeom prst="roundRect">
            <a:avLst>
              <a:gd name="adj" fmla="val 22000"/>
            </a:avLst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9614133" y="6493750"/>
            <a:ext cx="420000" cy="420000"/>
          </a:xfrm>
          <a:prstGeom prst="ellipse">
            <a:avLst/>
          </a:prstGeom>
          <a:solidFill>
            <a:srgbClr val="11A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614133" y="6493750"/>
            <a:ext cx="420000" cy="4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254133" y="6115000"/>
            <a:ext cx="6165866" cy="117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dirty="0">
                <a:solidFill>
                  <a:srgbClr val="0B3C5D"/>
                </a:solidFill>
                <a:latin typeface="Calibri"/>
              </a:rPr>
              <a:t>3 Persona Workflows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9394133" y="7452500"/>
            <a:ext cx="7225866" cy="1177500"/>
          </a:xfrm>
          <a:prstGeom prst="roundRect">
            <a:avLst>
              <a:gd name="adj" fmla="val 22000"/>
            </a:avLst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9614133" y="7831250"/>
            <a:ext cx="420000" cy="420000"/>
          </a:xfrm>
          <a:prstGeom prst="ellipse">
            <a:avLst/>
          </a:prstGeom>
          <a:solidFill>
            <a:srgbClr val="11A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9614133" y="7831250"/>
            <a:ext cx="420000" cy="4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0254133" y="7452500"/>
            <a:ext cx="6165866" cy="117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IMD / INCOIS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7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7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3" name="Google Shape;213;p7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5" name="Google Shape;215;p7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216" name="Google Shape;216;p7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</p:sp>
        <p:sp>
          <p:nvSpPr>
            <p:cNvPr id="217" name="Google Shape;217;p7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System Architecture</a:t>
              </a:r>
              <a:endParaRPr dirty="0"/>
            </a:p>
          </p:txBody>
        </p:sp>
      </p:grpSp>
      <p:sp>
        <p:nvSpPr>
          <p:cNvPr id="218" name="Google Shape;218;p7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1686268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634133" y="6116111"/>
            <a:ext cx="578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02256-50D8-A917-B8D0-5BB6F8484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25159"/>
            <a:ext cx="18288000" cy="66903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8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0" name="Google Shape;230;p8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1" name="Google Shape;231;p8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3" name="Google Shape;233;p8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234" name="Google Shape;234;p8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</p:sp>
        <p:sp>
          <p:nvSpPr>
            <p:cNvPr id="235" name="Google Shape;235;p8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Resources Required</a:t>
              </a:r>
              <a:endParaRPr/>
            </a:p>
          </p:txBody>
        </p:sp>
      </p:grpSp>
      <p:sp>
        <p:nvSpPr>
          <p:cNvPr id="236" name="Google Shape;236;p8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1697728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9" name="Rounded Rectangle 238"/>
          <p:cNvSpPr/>
          <p:nvPr/>
        </p:nvSpPr>
        <p:spPr>
          <a:xfrm>
            <a:off x="1827885" y="4091463"/>
            <a:ext cx="4757623" cy="5038819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2211932" y="4215568"/>
            <a:ext cx="398952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dirty="0">
                <a:solidFill>
                  <a:srgbClr val="0B3C5D"/>
                </a:solidFill>
                <a:latin typeface="Cambria"/>
              </a:rPr>
              <a:t>TECHNOLOGIES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266817" y="4837317"/>
            <a:ext cx="3989527" cy="182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2211933" y="4085539"/>
            <a:ext cx="3989527" cy="4770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50606B"/>
                </a:solidFill>
                <a:latin typeface="Calibri"/>
              </a:rPr>
              <a:t>•   Python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>
                <a:solidFill>
                  <a:srgbClr val="50606B"/>
                </a:solidFill>
                <a:latin typeface="Calibri"/>
              </a:rPr>
              <a:t>•   FastAPI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>
                <a:solidFill>
                  <a:srgbClr val="50606B"/>
                </a:solidFill>
                <a:latin typeface="Calibri"/>
              </a:rPr>
              <a:t>•   LLM + RAG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>
                <a:solidFill>
                  <a:srgbClr val="50606B"/>
                </a:solidFill>
                <a:latin typeface="Calibri"/>
              </a:rPr>
              <a:t>•   ChromaDB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6845198" y="4050717"/>
            <a:ext cx="4757623" cy="5079566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149236" y="4215568"/>
            <a:ext cx="398952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dirty="0">
                <a:solidFill>
                  <a:srgbClr val="0B3C5D"/>
                </a:solidFill>
                <a:latin typeface="Cambria"/>
              </a:rPr>
              <a:t>TOOLS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7160533" y="4837317"/>
            <a:ext cx="3989527" cy="182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7229246" y="4085539"/>
            <a:ext cx="3989527" cy="4770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dirty="0">
                <a:solidFill>
                  <a:srgbClr val="50606B"/>
                </a:solidFill>
                <a:latin typeface="Calibri"/>
              </a:rPr>
              <a:t>•   </a:t>
            </a:r>
            <a:r>
              <a:rPr sz="1800" b="0" dirty="0" err="1">
                <a:solidFill>
                  <a:srgbClr val="50606B"/>
                </a:solidFill>
                <a:latin typeface="Calibri"/>
              </a:rPr>
              <a:t>Streamlit</a:t>
            </a:r>
            <a:endParaRPr sz="1800" b="0" dirty="0">
              <a:solidFill>
                <a:srgbClr val="50606B"/>
              </a:solidFill>
              <a:latin typeface="Calibri"/>
            </a:endParaRP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 dirty="0">
                <a:solidFill>
                  <a:srgbClr val="50606B"/>
                </a:solidFill>
                <a:latin typeface="Calibri"/>
              </a:rPr>
              <a:t>•   VS Code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 dirty="0">
                <a:solidFill>
                  <a:srgbClr val="50606B"/>
                </a:solidFill>
                <a:latin typeface="Calibri"/>
              </a:rPr>
              <a:t>•   Git / GitHub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1862511" y="4050717"/>
            <a:ext cx="4757623" cy="5079566"/>
          </a:xfrm>
          <a:prstGeom prst="roundRect">
            <a:avLst/>
          </a:prstGeom>
          <a:solidFill>
            <a:srgbClr val="E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12246559" y="4215568"/>
            <a:ext cx="398952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dirty="0">
                <a:solidFill>
                  <a:srgbClr val="0B3C5D"/>
                </a:solidFill>
                <a:latin typeface="Cambria"/>
              </a:rPr>
              <a:t>DATA &amp; RESOURCES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2414937" y="4837317"/>
            <a:ext cx="3989527" cy="1828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2246559" y="4085539"/>
            <a:ext cx="3989527" cy="4770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50606B"/>
                </a:solidFill>
                <a:latin typeface="Calibri"/>
              </a:rPr>
              <a:t>•   Open-Meteo — weather data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>
                <a:solidFill>
                  <a:srgbClr val="50606B"/>
                </a:solidFill>
                <a:latin typeface="Calibri"/>
              </a:rPr>
              <a:t>•   IMD — weather bulletins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>
                <a:solidFill>
                  <a:srgbClr val="50606B"/>
                </a:solidFill>
                <a:latin typeface="Calibri"/>
              </a:rPr>
              <a:t>•   INCOIS — ocean/coastal information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800" b="0">
                <a:solidFill>
                  <a:srgbClr val="50606B"/>
                </a:solidFill>
                <a:latin typeface="Calibri"/>
              </a:rPr>
              <a:t>•   BHASHINI — Indian-language speech services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FF5CC-E246-5F8E-703B-2D4D7C7EE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374" y="2663424"/>
            <a:ext cx="6692563" cy="1147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2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3" name="Google Shape;123;p2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5" name="Google Shape;125;p2"/>
          <p:cNvGrpSpPr/>
          <p:nvPr/>
        </p:nvGrpSpPr>
        <p:grpSpPr>
          <a:xfrm>
            <a:off x="2762498" y="1792195"/>
            <a:ext cx="9275400" cy="871204"/>
            <a:chOff x="0" y="0"/>
            <a:chExt cx="12367200" cy="1161606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2367200" cy="1161600"/>
            </a:xfrm>
            <a:custGeom>
              <a:avLst/>
              <a:gdLst/>
              <a:ahLst/>
              <a:cxnLst/>
              <a:rect l="l" t="t" r="r" b="b"/>
              <a:pathLst>
                <a:path w="12367200" h="1161600" extrusionOk="0">
                  <a:moveTo>
                    <a:pt x="0" y="0"/>
                  </a:moveTo>
                  <a:lnTo>
                    <a:pt x="12367200" y="0"/>
                  </a:lnTo>
                  <a:lnTo>
                    <a:pt x="123672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57452" b="-15745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0"/>
              <a:ext cx="12367196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User Flow</a:t>
              </a:r>
              <a:endParaRPr/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6891355" y="9609598"/>
            <a:ext cx="9147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9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1871597" y="5637809"/>
            <a:ext cx="2248622" cy="240000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2605908" y="5423253"/>
            <a:ext cx="780000" cy="786723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605908" y="5423254"/>
            <a:ext cx="780000" cy="78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51597" y="6341615"/>
            <a:ext cx="2088622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900" b="1" dirty="0">
                <a:latin typeface="Cambria" panose="02040503050406030204" pitchFamily="18" charset="0"/>
                <a:ea typeface="Cambria" panose="02040503050406030204" pitchFamily="18" charset="0"/>
              </a:rPr>
              <a:t>Location + Query</a:t>
            </a:r>
            <a:endParaRPr sz="1900" b="1" i="0" dirty="0">
              <a:solidFill>
                <a:srgbClr val="0B3C5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5" name="Chevron 134"/>
          <p:cNvSpPr/>
          <p:nvPr/>
        </p:nvSpPr>
        <p:spPr>
          <a:xfrm>
            <a:off x="4100219" y="6687809"/>
            <a:ext cx="300000" cy="2160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4380219" y="5637809"/>
            <a:ext cx="2248622" cy="240000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5114530" y="5423253"/>
            <a:ext cx="780000" cy="786723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114530" y="5423254"/>
            <a:ext cx="780000" cy="78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60219" y="6137809"/>
            <a:ext cx="2088622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 dirty="0">
                <a:solidFill>
                  <a:srgbClr val="0B3C5D"/>
                </a:solidFill>
                <a:latin typeface="Cambria"/>
              </a:rPr>
              <a:t>Understand</a:t>
            </a:r>
          </a:p>
        </p:txBody>
      </p:sp>
      <p:sp>
        <p:nvSpPr>
          <p:cNvPr id="140" name="Chevron 139"/>
          <p:cNvSpPr/>
          <p:nvPr/>
        </p:nvSpPr>
        <p:spPr>
          <a:xfrm>
            <a:off x="6608841" y="6687809"/>
            <a:ext cx="300000" cy="2160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6888841" y="5637809"/>
            <a:ext cx="2248622" cy="240000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623152" y="5423253"/>
            <a:ext cx="780000" cy="786723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623152" y="5423254"/>
            <a:ext cx="780000" cy="78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68841" y="6137809"/>
            <a:ext cx="2088622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0B3C5D"/>
                </a:solidFill>
                <a:latin typeface="Cambria"/>
              </a:rPr>
              <a:t>Retrieve</a:t>
            </a:r>
          </a:p>
        </p:txBody>
      </p:sp>
      <p:sp>
        <p:nvSpPr>
          <p:cNvPr id="145" name="Chevron 144"/>
          <p:cNvSpPr/>
          <p:nvPr/>
        </p:nvSpPr>
        <p:spPr>
          <a:xfrm>
            <a:off x="9117463" y="6687809"/>
            <a:ext cx="300000" cy="2160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9397463" y="5637809"/>
            <a:ext cx="2248622" cy="240000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131774" y="5423253"/>
            <a:ext cx="780000" cy="786723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131774" y="5423254"/>
            <a:ext cx="780000" cy="78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477463" y="6137809"/>
            <a:ext cx="2088622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0B3C5D"/>
                </a:solidFill>
                <a:latin typeface="Cambria"/>
              </a:rPr>
              <a:t>Analyze</a:t>
            </a:r>
          </a:p>
        </p:txBody>
      </p:sp>
      <p:sp>
        <p:nvSpPr>
          <p:cNvPr id="150" name="Chevron 149"/>
          <p:cNvSpPr/>
          <p:nvPr/>
        </p:nvSpPr>
        <p:spPr>
          <a:xfrm>
            <a:off x="11626085" y="6687809"/>
            <a:ext cx="300000" cy="2160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11906085" y="5637809"/>
            <a:ext cx="2248622" cy="240000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2640396" y="5423253"/>
            <a:ext cx="780000" cy="786723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2640396" y="5423254"/>
            <a:ext cx="780000" cy="78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986085" y="6137809"/>
            <a:ext cx="2088622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0B3C5D"/>
                </a:solidFill>
                <a:latin typeface="Cambria"/>
              </a:rPr>
              <a:t>Respond</a:t>
            </a:r>
          </a:p>
        </p:txBody>
      </p:sp>
      <p:sp>
        <p:nvSpPr>
          <p:cNvPr id="155" name="Chevron 154"/>
          <p:cNvSpPr/>
          <p:nvPr/>
        </p:nvSpPr>
        <p:spPr>
          <a:xfrm>
            <a:off x="14134707" y="6687809"/>
            <a:ext cx="300000" cy="216000"/>
          </a:xfrm>
          <a:prstGeom prst="chevron">
            <a:avLst/>
          </a:prstGeom>
          <a:solidFill>
            <a:srgbClr val="9AA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14414707" y="5637809"/>
            <a:ext cx="2248622" cy="2400000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5149018" y="5423253"/>
            <a:ext cx="780000" cy="786723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5149018" y="5423254"/>
            <a:ext cx="780000" cy="78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494707" y="6137809"/>
            <a:ext cx="2088622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0B3C5D"/>
                </a:solidFill>
                <a:latin typeface="Cambria"/>
              </a:rPr>
              <a:t>Alert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1CBCA-8659-D4DD-3BC2-10343BD42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52" y="2827642"/>
            <a:ext cx="11385755" cy="20171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2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2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3" name="Google Shape;123;p2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5" name="Google Shape;125;p2"/>
          <p:cNvGrpSpPr/>
          <p:nvPr/>
        </p:nvGrpSpPr>
        <p:grpSpPr>
          <a:xfrm>
            <a:off x="2762498" y="1792195"/>
            <a:ext cx="9275400" cy="871204"/>
            <a:chOff x="0" y="0"/>
            <a:chExt cx="12367200" cy="1161606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2367200" cy="1161600"/>
            </a:xfrm>
            <a:custGeom>
              <a:avLst/>
              <a:gdLst/>
              <a:ahLst/>
              <a:cxnLst/>
              <a:rect l="l" t="t" r="r" b="b"/>
              <a:pathLst>
                <a:path w="12367200" h="1161600" extrusionOk="0">
                  <a:moveTo>
                    <a:pt x="0" y="0"/>
                  </a:moveTo>
                  <a:lnTo>
                    <a:pt x="12367200" y="0"/>
                  </a:lnTo>
                  <a:lnTo>
                    <a:pt x="123672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57452" b="-15745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0"/>
              <a:ext cx="12367196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Persona Workflows &amp; Impact</a:t>
              </a:r>
              <a:endParaRPr/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6891355" y="9609598"/>
            <a:ext cx="9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10</a:t>
            </a:r>
            <a:endParaRPr sz="20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4261345" y="3264501"/>
            <a:ext cx="64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endParaRPr sz="5400" b="0" i="0" dirty="0">
              <a:solidFill>
                <a:srgbClr val="172633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18A190-C65C-2B9B-7A1C-D21FE2E8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7" y="2719049"/>
            <a:ext cx="18276703" cy="66904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7"/>
          <p:cNvCxnSpPr/>
          <p:nvPr/>
        </p:nvCxnSpPr>
        <p:spPr>
          <a:xfrm rot="23640">
            <a:off x="-9554" y="2258692"/>
            <a:ext cx="2770718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7"/>
          <p:cNvSpPr/>
          <p:nvPr/>
        </p:nvSpPr>
        <p:spPr>
          <a:xfrm>
            <a:off x="1634947" y="1857537"/>
            <a:ext cx="811816" cy="811816"/>
          </a:xfrm>
          <a:custGeom>
            <a:avLst/>
            <a:gdLst/>
            <a:ahLst/>
            <a:cxnLst/>
            <a:rect l="l" t="t" r="r" b="b"/>
            <a:pathLst>
              <a:path w="1082421" h="1082421" extrusionOk="0">
                <a:moveTo>
                  <a:pt x="0" y="541147"/>
                </a:moveTo>
                <a:cubicBezTo>
                  <a:pt x="0" y="242316"/>
                  <a:pt x="242316" y="0"/>
                  <a:pt x="541147" y="0"/>
                </a:cubicBezTo>
                <a:cubicBezTo>
                  <a:pt x="839978" y="0"/>
                  <a:pt x="1082421" y="242316"/>
                  <a:pt x="1082421" y="541147"/>
                </a:cubicBezTo>
                <a:cubicBezTo>
                  <a:pt x="1082421" y="839978"/>
                  <a:pt x="840105" y="1082421"/>
                  <a:pt x="541147" y="1082421"/>
                </a:cubicBezTo>
                <a:cubicBezTo>
                  <a:pt x="242189" y="1082421"/>
                  <a:pt x="0" y="840105"/>
                  <a:pt x="0" y="541147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3" name="Google Shape;213;p7"/>
          <p:cNvCxnSpPr/>
          <p:nvPr/>
        </p:nvCxnSpPr>
        <p:spPr>
          <a:xfrm rot="8400">
            <a:off x="10521763" y="2258692"/>
            <a:ext cx="777587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5" name="Google Shape;215;p7"/>
          <p:cNvGrpSpPr/>
          <p:nvPr/>
        </p:nvGrpSpPr>
        <p:grpSpPr>
          <a:xfrm>
            <a:off x="2762498" y="1792224"/>
            <a:ext cx="7756800" cy="871204"/>
            <a:chOff x="0" y="0"/>
            <a:chExt cx="10342400" cy="1161606"/>
          </a:xfrm>
        </p:grpSpPr>
        <p:sp>
          <p:nvSpPr>
            <p:cNvPr id="216" name="Google Shape;216;p7"/>
            <p:cNvSpPr/>
            <p:nvPr/>
          </p:nvSpPr>
          <p:spPr>
            <a:xfrm>
              <a:off x="0" y="0"/>
              <a:ext cx="10342400" cy="1161600"/>
            </a:xfrm>
            <a:custGeom>
              <a:avLst/>
              <a:gdLst/>
              <a:ahLst/>
              <a:cxnLst/>
              <a:rect l="l" t="t" r="r" b="b"/>
              <a:pathLst>
                <a:path w="10342400" h="1161600" extrusionOk="0">
                  <a:moveTo>
                    <a:pt x="0" y="0"/>
                  </a:moveTo>
                  <a:lnTo>
                    <a:pt x="10342400" y="0"/>
                  </a:lnTo>
                  <a:lnTo>
                    <a:pt x="10342400" y="1161600"/>
                  </a:lnTo>
                  <a:lnTo>
                    <a:pt x="0" y="1161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3491" b="-12349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217" name="Google Shape;217;p7"/>
            <p:cNvSpPr txBox="1"/>
            <p:nvPr/>
          </p:nvSpPr>
          <p:spPr>
            <a:xfrm>
              <a:off x="0" y="0"/>
              <a:ext cx="10342397" cy="1161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 b="1" i="0" u="none" strike="noStrike" cap="none" dirty="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References</a:t>
              </a:r>
              <a:endParaRPr dirty="0"/>
            </a:p>
          </p:txBody>
        </p:sp>
      </p:grpSp>
      <p:sp>
        <p:nvSpPr>
          <p:cNvPr id="218" name="Google Shape;218;p7"/>
          <p:cNvSpPr/>
          <p:nvPr/>
        </p:nvSpPr>
        <p:spPr>
          <a:xfrm>
            <a:off x="1828267" y="2034854"/>
            <a:ext cx="438550" cy="438550"/>
          </a:xfrm>
          <a:custGeom>
            <a:avLst/>
            <a:gdLst/>
            <a:ahLst/>
            <a:cxnLst/>
            <a:rect l="l" t="t" r="r" b="b"/>
            <a:pathLst>
              <a:path w="438550" h="438550" extrusionOk="0">
                <a:moveTo>
                  <a:pt x="0" y="0"/>
                </a:moveTo>
                <a:lnTo>
                  <a:pt x="438550" y="0"/>
                </a:lnTo>
                <a:lnTo>
                  <a:pt x="438550" y="438550"/>
                </a:lnTo>
                <a:lnTo>
                  <a:pt x="0" y="43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1297" y="9415501"/>
            <a:ext cx="18288000" cy="871156"/>
          </a:xfrm>
          <a:custGeom>
            <a:avLst/>
            <a:gdLst/>
            <a:ahLst/>
            <a:cxnLst/>
            <a:rect l="l" t="t" r="r" b="b"/>
            <a:pathLst>
              <a:path w="24384000" h="1161542" extrusionOk="0">
                <a:moveTo>
                  <a:pt x="0" y="0"/>
                </a:moveTo>
                <a:lnTo>
                  <a:pt x="24384000" y="0"/>
                </a:lnTo>
                <a:lnTo>
                  <a:pt x="24384000" y="1161542"/>
                </a:lnTo>
                <a:lnTo>
                  <a:pt x="0" y="1161542"/>
                </a:lnTo>
                <a:close/>
              </a:path>
            </a:pathLst>
          </a:custGeom>
          <a:solidFill>
            <a:srgbClr val="0B3C5D">
              <a:alpha val="85882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16862680" y="9697173"/>
            <a:ext cx="91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1828267" y="284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3C5D"/>
                </a:solidFill>
                <a:latin typeface="Cambria"/>
              </a:rPr>
              <a:t>1.  India Meteorological Department (IMD)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828267" y="3260000"/>
            <a:ext cx="7145866" cy="4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50606B"/>
                </a:solidFill>
                <a:latin typeface="Calibri"/>
              </a:rPr>
              <a:t>Weather forecasts, warnings and MAUSAM services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828267" y="364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u="sng">
                <a:solidFill>
                  <a:srgbClr val="11A696"/>
                </a:solidFill>
                <a:latin typeface="Calibri"/>
                <a:hlinkClick r:id="rId2"/>
              </a:rPr>
              <a:t>https://mausam.imd.gov.in/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828267" y="439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3C5D"/>
                </a:solidFill>
                <a:latin typeface="Cambria"/>
              </a:rPr>
              <a:t>2.  INCOIS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828267" y="4810000"/>
            <a:ext cx="7145866" cy="4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50606B"/>
                </a:solidFill>
                <a:latin typeface="Calibri"/>
              </a:rPr>
              <a:t>Ocean forecasts, marine information and advisories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828267" y="519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u="sng">
                <a:solidFill>
                  <a:srgbClr val="11A696"/>
                </a:solidFill>
                <a:latin typeface="Calibri"/>
                <a:hlinkClick r:id="rId6"/>
              </a:rPr>
              <a:t>https://incois.gov.in/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828267" y="594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3C5D"/>
                </a:solidFill>
                <a:latin typeface="Cambria"/>
              </a:rPr>
              <a:t>3.  Open-Meteo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28267" y="6360000"/>
            <a:ext cx="7145866" cy="4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50606B"/>
                </a:solidFill>
                <a:latin typeface="Calibri"/>
              </a:rPr>
              <a:t>Weather Forecast API and historical weather data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828267" y="674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u="sng">
                <a:solidFill>
                  <a:srgbClr val="11A696"/>
                </a:solidFill>
                <a:latin typeface="Calibri"/>
                <a:hlinkClick r:id="rId7"/>
              </a:rPr>
              <a:t>https://open-meteo.com/en/docs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474133" y="284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3C5D"/>
                </a:solidFill>
                <a:latin typeface="Cambria"/>
              </a:rPr>
              <a:t>4.  BHASHINI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474133" y="3260000"/>
            <a:ext cx="7145866" cy="4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50606B"/>
                </a:solidFill>
                <a:latin typeface="Calibri"/>
              </a:rPr>
              <a:t>Indian-language speech and language services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474133" y="364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u="sng">
                <a:solidFill>
                  <a:srgbClr val="11A696"/>
                </a:solidFill>
                <a:latin typeface="Calibri"/>
                <a:hlinkClick r:id="rId8"/>
              </a:rPr>
              <a:t>https://bhashini.gov.in/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9474133" y="439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3C5D"/>
                </a:solidFill>
                <a:latin typeface="Cambria"/>
              </a:rPr>
              <a:t>5.  MAUSAM / Meghdoot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474133" y="4810000"/>
            <a:ext cx="7145866" cy="4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>
                <a:solidFill>
                  <a:srgbClr val="50606B"/>
                </a:solidFill>
                <a:latin typeface="Calibri"/>
              </a:rPr>
              <a:t>Existing weather and agricultural advisory services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474133" y="5190000"/>
            <a:ext cx="7145866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u="sng">
                <a:solidFill>
                  <a:srgbClr val="11A696"/>
                </a:solidFill>
                <a:latin typeface="Calibri"/>
                <a:hlinkClick r:id="rId2"/>
              </a:rPr>
              <a:t>https://mausam.imd.gov.in/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9"/>
          <p:cNvCxnSpPr/>
          <p:nvPr/>
        </p:nvCxnSpPr>
        <p:spPr>
          <a:xfrm rot="13620">
            <a:off x="3353" y="2852738"/>
            <a:ext cx="4813687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8" name="Google Shape;248;p9"/>
          <p:cNvGrpSpPr/>
          <p:nvPr/>
        </p:nvGrpSpPr>
        <p:grpSpPr>
          <a:xfrm>
            <a:off x="4743250" y="1633099"/>
            <a:ext cx="9815999" cy="2319604"/>
            <a:chOff x="0" y="0"/>
            <a:chExt cx="13088000" cy="3092806"/>
          </a:xfrm>
        </p:grpSpPr>
        <p:sp>
          <p:nvSpPr>
            <p:cNvPr id="249" name="Google Shape;249;p9"/>
            <p:cNvSpPr/>
            <p:nvPr/>
          </p:nvSpPr>
          <p:spPr>
            <a:xfrm>
              <a:off x="0" y="0"/>
              <a:ext cx="13088000" cy="3092800"/>
            </a:xfrm>
            <a:custGeom>
              <a:avLst/>
              <a:gdLst/>
              <a:ahLst/>
              <a:cxnLst/>
              <a:rect l="l" t="t" r="r" b="b"/>
              <a:pathLst>
                <a:path w="13088000" h="3092800" extrusionOk="0">
                  <a:moveTo>
                    <a:pt x="0" y="0"/>
                  </a:moveTo>
                  <a:lnTo>
                    <a:pt x="13088000" y="0"/>
                  </a:lnTo>
                  <a:lnTo>
                    <a:pt x="13088000" y="3092800"/>
                  </a:lnTo>
                  <a:lnTo>
                    <a:pt x="0" y="3092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32454" b="-32456"/>
              </a:stretch>
            </a:blipFill>
            <a:ln>
              <a:noFill/>
            </a:ln>
          </p:spPr>
        </p:sp>
        <p:sp>
          <p:nvSpPr>
            <p:cNvPr id="250" name="Google Shape;250;p9"/>
            <p:cNvSpPr txBox="1"/>
            <p:nvPr/>
          </p:nvSpPr>
          <p:spPr>
            <a:xfrm>
              <a:off x="0" y="9525"/>
              <a:ext cx="13087998" cy="3083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Thank You!</a:t>
              </a:r>
              <a:endParaRPr/>
            </a:p>
          </p:txBody>
        </p:sp>
      </p:grpSp>
      <p:cxnSp>
        <p:nvCxnSpPr>
          <p:cNvPr id="251" name="Google Shape;251;p9"/>
          <p:cNvCxnSpPr/>
          <p:nvPr/>
        </p:nvCxnSpPr>
        <p:spPr>
          <a:xfrm rot="11880">
            <a:off x="12787960" y="2852738"/>
            <a:ext cx="5509679" cy="0"/>
          </a:xfrm>
          <a:prstGeom prst="straightConnector1">
            <a:avLst/>
          </a:prstGeom>
          <a:noFill/>
          <a:ln w="9525" cap="rnd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9"/>
          <p:cNvSpPr/>
          <p:nvPr/>
        </p:nvSpPr>
        <p:spPr>
          <a:xfrm>
            <a:off x="1663846" y="1718348"/>
            <a:ext cx="2278189" cy="2278189"/>
          </a:xfrm>
          <a:custGeom>
            <a:avLst/>
            <a:gdLst/>
            <a:ahLst/>
            <a:cxnLst/>
            <a:rect l="l" t="t" r="r" b="b"/>
            <a:pathLst>
              <a:path w="3037586" h="3037586" extrusionOk="0">
                <a:moveTo>
                  <a:pt x="0" y="1518793"/>
                </a:moveTo>
                <a:cubicBezTo>
                  <a:pt x="0" y="679958"/>
                  <a:pt x="679958" y="0"/>
                  <a:pt x="1518793" y="0"/>
                </a:cubicBezTo>
                <a:cubicBezTo>
                  <a:pt x="2357628" y="0"/>
                  <a:pt x="3037586" y="679958"/>
                  <a:pt x="3037586" y="1518793"/>
                </a:cubicBezTo>
                <a:cubicBezTo>
                  <a:pt x="3037586" y="2357628"/>
                  <a:pt x="2357628" y="3037586"/>
                  <a:pt x="1518793" y="3037586"/>
                </a:cubicBezTo>
                <a:cubicBezTo>
                  <a:pt x="679958" y="3037586"/>
                  <a:pt x="0" y="2357628"/>
                  <a:pt x="0" y="1518793"/>
                </a:cubicBezTo>
                <a:close/>
              </a:path>
            </a:pathLst>
          </a:custGeom>
          <a:solidFill>
            <a:srgbClr val="0B3C5D">
              <a:alpha val="5686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2286076" y="2369820"/>
            <a:ext cx="1034853" cy="974941"/>
          </a:xfrm>
          <a:custGeom>
            <a:avLst/>
            <a:gdLst/>
            <a:ahLst/>
            <a:cxnLst/>
            <a:rect l="l" t="t" r="r" b="b"/>
            <a:pathLst>
              <a:path w="1034853" h="974941" extrusionOk="0">
                <a:moveTo>
                  <a:pt x="0" y="0"/>
                </a:moveTo>
                <a:lnTo>
                  <a:pt x="1034853" y="0"/>
                </a:lnTo>
                <a:lnTo>
                  <a:pt x="1034853" y="974941"/>
                </a:lnTo>
                <a:lnTo>
                  <a:pt x="0" y="97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16849305" y="9641673"/>
            <a:ext cx="914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endParaRPr dirty="0"/>
          </a:p>
        </p:txBody>
      </p:sp>
      <p:sp>
        <p:nvSpPr>
          <p:cNvPr id="255" name="Rounded Rectangle 254"/>
          <p:cNvSpPr/>
          <p:nvPr/>
        </p:nvSpPr>
        <p:spPr>
          <a:xfrm>
            <a:off x="1828267" y="4750000"/>
            <a:ext cx="3450000" cy="560000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🌐 LIVE PROTOTYPE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828267" y="5510000"/>
            <a:ext cx="5200000" cy="4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1">
                <a:solidFill>
                  <a:srgbClr val="50606B"/>
                </a:solidFill>
                <a:latin typeface="Calibri"/>
              </a:rPr>
              <a:t>Basic Streamlit Prototype — Core Features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828267" y="6010000"/>
            <a:ext cx="620000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sng">
                <a:solidFill>
                  <a:srgbClr val="11A696"/>
                </a:solidFill>
                <a:latin typeface="Calibri"/>
                <a:hlinkClick r:id="rId5"/>
              </a:rPr>
              <a:t>vayuvani.app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828267" y="6500000"/>
            <a:ext cx="76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i="1">
                <a:solidFill>
                  <a:srgbClr val="50606B"/>
                </a:solidFill>
                <a:latin typeface="Calibri"/>
              </a:rPr>
              <a:t>Demonstrates selected core features of the proposed 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463</Words>
  <Application>Microsoft Office PowerPoint</Application>
  <PresentationFormat>Custom</PresentationFormat>
  <Paragraphs>162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Cambria</vt:lpstr>
      <vt:lpstr>Quattrocento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Bharani Kumar Pasupuleti</cp:lastModifiedBy>
  <cp:revision>8</cp:revision>
  <dcterms:created xsi:type="dcterms:W3CDTF">2006-08-16T00:00:00Z</dcterms:created>
  <dcterms:modified xsi:type="dcterms:W3CDTF">2026-09-29T09:28:39Z</dcterms:modified>
</cp:coreProperties>
</file>